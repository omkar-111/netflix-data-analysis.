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4"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deep madhukar" initials="pm" lastIdx="1" clrIdx="0">
    <p:extLst>
      <p:ext uri="{19B8F6BF-5375-455C-9EA6-DF929625EA0E}">
        <p15:presenceInfo xmlns:p15="http://schemas.microsoft.com/office/powerpoint/2012/main" userId="ab33e4939c40995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20" d="100"/>
          <a:sy n="120" d="100"/>
        </p:scale>
        <p:origin x="1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19-Mar-23</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2057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19-Mar-23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060462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AF61AA-5A98-4049-A93E-477E5505141A}" type="datetimeFigureOut">
              <a:rPr lang="en-US" smtClean="0"/>
              <a:t>19-Mar-23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4491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AF61AA-5A98-4049-A93E-477E5505141A}" type="datetimeFigureOut">
              <a:rPr lang="en-US" smtClean="0"/>
              <a:t>19-Mar-23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156412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AF61AA-5A98-4049-A93E-477E5505141A}" type="datetimeFigureOut">
              <a:rPr lang="en-US" smtClean="0"/>
              <a:t>19-Mar-23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16661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AF61AA-5A98-4049-A93E-477E5505141A}" type="datetimeFigureOut">
              <a:rPr lang="en-US" smtClean="0"/>
              <a:t>19-Mar-23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06986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AF61AA-5A98-4049-A93E-477E5505141A}" type="datetimeFigureOut">
              <a:rPr lang="en-US" smtClean="0"/>
              <a:t>19-Mar-23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94835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F61AA-5A98-4049-A93E-477E5505141A}" type="datetimeFigureOut">
              <a:rPr lang="en-US" smtClean="0"/>
              <a:t>19-Mar-23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08982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F61AA-5A98-4049-A93E-477E5505141A}" type="datetimeFigureOut">
              <a:rPr lang="en-US" smtClean="0"/>
              <a:t>19-Mar-23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81025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0DAF61AA-5A98-4049-A93E-477E5505141A}" type="datetimeFigureOut">
              <a:rPr lang="en-US" smtClean="0"/>
              <a:pPr/>
              <a:t>19-Mar-23</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850FF-6169-4056-8077-06FFA93A5366}" type="slidenum">
              <a:rPr lang="en-US" smtClean="0"/>
              <a:pPr/>
              <a:t>‹#›</a:t>
            </a:fld>
            <a:endParaRPr lang="en-US"/>
          </a:p>
        </p:txBody>
      </p:sp>
    </p:spTree>
    <p:extLst>
      <p:ext uri="{BB962C8B-B14F-4D97-AF65-F5344CB8AC3E}">
        <p14:creationId xmlns:p14="http://schemas.microsoft.com/office/powerpoint/2010/main" val="2233085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AF61AA-5A98-4049-A93E-477E5505141A}" type="datetimeFigureOut">
              <a:rPr lang="en-US" smtClean="0"/>
              <a:pPr/>
              <a:t>19-Mar-23</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a:p>
        </p:txBody>
      </p:sp>
    </p:spTree>
    <p:extLst>
      <p:ext uri="{BB962C8B-B14F-4D97-AF65-F5344CB8AC3E}">
        <p14:creationId xmlns:p14="http://schemas.microsoft.com/office/powerpoint/2010/main" val="1300115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AF61AA-5A98-4049-A93E-477E5505141A}" type="datetimeFigureOut">
              <a:rPr lang="en-US" smtClean="0"/>
              <a:pPr/>
              <a:t>19-Mar-23</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21090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AF61AA-5A98-4049-A93E-477E5505141A}" type="datetimeFigureOut">
              <a:rPr lang="en-US" smtClean="0"/>
              <a:pPr/>
              <a:t>19-Mar-23</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a:p>
        </p:txBody>
      </p:sp>
    </p:spTree>
    <p:extLst>
      <p:ext uri="{BB962C8B-B14F-4D97-AF65-F5344CB8AC3E}">
        <p14:creationId xmlns:p14="http://schemas.microsoft.com/office/powerpoint/2010/main" val="596757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AF61AA-5A98-4049-A93E-477E5505141A}" type="datetimeFigureOut">
              <a:rPr lang="en-US" smtClean="0"/>
              <a:pPr/>
              <a:t>19-Mar-23</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30120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AF61AA-5A98-4049-A93E-477E5505141A}" type="datetimeFigureOut">
              <a:rPr lang="en-US" smtClean="0"/>
              <a:pPr/>
              <a:t>19-Mar-23</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a:p>
        </p:txBody>
      </p:sp>
    </p:spTree>
    <p:extLst>
      <p:ext uri="{BB962C8B-B14F-4D97-AF65-F5344CB8AC3E}">
        <p14:creationId xmlns:p14="http://schemas.microsoft.com/office/powerpoint/2010/main" val="47105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19-Mar-23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31334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19-Mar-23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40281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0DAF61AA-5A98-4049-A93E-477E5505141A}" type="datetimeFigureOut">
              <a:rPr lang="en-US" smtClean="0"/>
              <a:pPr/>
              <a:t>19-Mar-23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009641911"/>
      </p:ext>
    </p:extLst>
  </p:cSld>
  <p:clrMap bg1="dk1" tx1="lt1" bg2="dk2" tx2="lt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046" r:id="rId12"/>
    <p:sldLayoutId id="2147484047" r:id="rId13"/>
    <p:sldLayoutId id="2147484048" r:id="rId14"/>
    <p:sldLayoutId id="2147484049" r:id="rId15"/>
    <p:sldLayoutId id="2147484050" r:id="rId16"/>
    <p:sldLayoutId id="214748405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50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50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50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4pPr>
      <a:lvl5pPr marL="21145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715211-C0EA-410E-ACCF-EE58E4C3031A}"/>
              </a:ext>
            </a:extLst>
          </p:cNvPr>
          <p:cNvPicPr>
            <a:picLocks noChangeAspect="1"/>
          </p:cNvPicPr>
          <p:nvPr/>
        </p:nvPicPr>
        <p:blipFill rotWithShape="1">
          <a:blip r:embed="rId2">
            <a:alphaModFix amt="70000"/>
            <a:extLst>
              <a:ext uri="{28A0092B-C50C-407E-A947-70E740481C1C}">
                <a14:useLocalDpi xmlns:a14="http://schemas.microsoft.com/office/drawing/2010/main" val="0"/>
              </a:ext>
            </a:extLst>
          </a:blip>
          <a:srcRect r="15" b="10"/>
          <a:stretch/>
        </p:blipFill>
        <p:spPr>
          <a:xfrm>
            <a:off x="13067" y="2987"/>
            <a:ext cx="12188932" cy="6856614"/>
          </a:xfrm>
          <a:prstGeom prst="rect">
            <a:avLst/>
          </a:prstGeom>
        </p:spPr>
      </p:pic>
      <p:sp>
        <p:nvSpPr>
          <p:cNvPr id="2" name="Title 1">
            <a:extLst>
              <a:ext uri="{FF2B5EF4-FFF2-40B4-BE49-F238E27FC236}">
                <a16:creationId xmlns:a16="http://schemas.microsoft.com/office/drawing/2014/main" id="{0AF32917-F919-4287-A2B7-924867B63744}"/>
              </a:ext>
            </a:extLst>
          </p:cNvPr>
          <p:cNvSpPr>
            <a:spLocks noGrp="1"/>
          </p:cNvSpPr>
          <p:nvPr>
            <p:ph type="ctrTitle"/>
          </p:nvPr>
        </p:nvSpPr>
        <p:spPr>
          <a:xfrm>
            <a:off x="3100362" y="-358992"/>
            <a:ext cx="8267064" cy="1744820"/>
          </a:xfrm>
        </p:spPr>
        <p:txBody>
          <a:bodyPr>
            <a:normAutofit/>
          </a:bodyPr>
          <a:lstStyle/>
          <a:p>
            <a:pPr algn="l"/>
            <a:r>
              <a:rPr lang="en-US" sz="5400" dirty="0">
                <a:solidFill>
                  <a:schemeClr val="tx2">
                    <a:lumMod val="75000"/>
                  </a:schemeClr>
                </a:solidFill>
              </a:rPr>
              <a:t>NETFLIX DATA ANALYSIS</a:t>
            </a:r>
          </a:p>
        </p:txBody>
      </p:sp>
    </p:spTree>
    <p:extLst>
      <p:ext uri="{BB962C8B-B14F-4D97-AF65-F5344CB8AC3E}">
        <p14:creationId xmlns:p14="http://schemas.microsoft.com/office/powerpoint/2010/main" val="315986233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036AEE7-87AD-4AE7-A002-E58B4E5FB822}"/>
              </a:ext>
            </a:extLst>
          </p:cNvPr>
          <p:cNvSpPr>
            <a:spLocks noGrp="1"/>
          </p:cNvSpPr>
          <p:nvPr>
            <p:ph idx="1"/>
          </p:nvPr>
        </p:nvSpPr>
        <p:spPr>
          <a:xfrm>
            <a:off x="0" y="254001"/>
            <a:ext cx="10898188" cy="1244600"/>
          </a:xfrm>
        </p:spPr>
        <p:txBody>
          <a:bodyPr>
            <a:normAutofit/>
          </a:bodyPr>
          <a:lstStyle/>
          <a:p>
            <a:r>
              <a:rPr lang="en-IN" sz="4400" b="1" dirty="0">
                <a:solidFill>
                  <a:schemeClr val="bg1">
                    <a:lumMod val="95000"/>
                    <a:lumOff val="5000"/>
                  </a:schemeClr>
                </a:solidFill>
              </a:rPr>
              <a:t>WHAT IS A </a:t>
            </a:r>
            <a:r>
              <a:rPr lang="en-US" sz="4400" b="1" dirty="0">
                <a:solidFill>
                  <a:schemeClr val="bg1"/>
                </a:solidFill>
              </a:rPr>
              <a:t>NETFLIX</a:t>
            </a:r>
            <a:r>
              <a:rPr lang="en-IN" sz="4400" b="1" dirty="0">
                <a:solidFill>
                  <a:schemeClr val="bg1">
                    <a:lumMod val="95000"/>
                    <a:lumOff val="5000"/>
                  </a:schemeClr>
                </a:solidFill>
              </a:rPr>
              <a:t>?</a:t>
            </a:r>
            <a:endParaRPr lang="en-US" sz="4400" dirty="0"/>
          </a:p>
        </p:txBody>
      </p:sp>
      <p:pic>
        <p:nvPicPr>
          <p:cNvPr id="11" name="Picture 10">
            <a:extLst>
              <a:ext uri="{FF2B5EF4-FFF2-40B4-BE49-F238E27FC236}">
                <a16:creationId xmlns:a16="http://schemas.microsoft.com/office/drawing/2014/main" id="{51A2F32A-9785-4F9A-B29C-7AB6382659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9546" y="1001294"/>
            <a:ext cx="3549271" cy="53593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TextBox 14">
            <a:extLst>
              <a:ext uri="{FF2B5EF4-FFF2-40B4-BE49-F238E27FC236}">
                <a16:creationId xmlns:a16="http://schemas.microsoft.com/office/drawing/2014/main" id="{2DE2FCD0-1123-4791-B6B1-94E27AABE961}"/>
              </a:ext>
            </a:extLst>
          </p:cNvPr>
          <p:cNvSpPr txBox="1"/>
          <p:nvPr/>
        </p:nvSpPr>
        <p:spPr>
          <a:xfrm>
            <a:off x="-123824" y="1498601"/>
            <a:ext cx="6851650" cy="5170646"/>
          </a:xfrm>
          <a:prstGeom prst="rect">
            <a:avLst/>
          </a:prstGeom>
          <a:noFill/>
        </p:spPr>
        <p:txBody>
          <a:bodyPr wrap="square">
            <a:spAutoFit/>
          </a:bodyPr>
          <a:lstStyle/>
          <a:p>
            <a:pPr lvl="1"/>
            <a:r>
              <a:rPr lang="en-US" sz="2200" dirty="0">
                <a:solidFill>
                  <a:srgbClr val="002060"/>
                </a:solidFill>
              </a:rPr>
              <a:t>Netflix is the largest online movie and TV show streaming service on the planet. Its service is widely available in many countries including but not limited to the United States, India, South Korea, Japan, and many more. The service was first introduced as a DVD rental service on the Internet and later, the founder and CEO of the company Reed Hastings transitioned to a revolutionary way of delivering movies and TV shows through its website allowing many users to directly stream their favorite contents on their Internet-enabled devices including desktop computers, laptops, tablet PCs, mobile phones, and many more</a:t>
            </a:r>
          </a:p>
        </p:txBody>
      </p:sp>
    </p:spTree>
    <p:extLst>
      <p:ext uri="{BB962C8B-B14F-4D97-AF65-F5344CB8AC3E}">
        <p14:creationId xmlns:p14="http://schemas.microsoft.com/office/powerpoint/2010/main" val="421884941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20874D16-1B32-46DB-8062-5167A0219C8A}"/>
              </a:ext>
            </a:extLst>
          </p:cNvPr>
          <p:cNvSpPr>
            <a:spLocks noGrp="1"/>
          </p:cNvSpPr>
          <p:nvPr>
            <p:ph type="title"/>
          </p:nvPr>
        </p:nvSpPr>
        <p:spPr>
          <a:xfrm>
            <a:off x="0" y="-222585"/>
            <a:ext cx="9192126" cy="2201781"/>
          </a:xfrm>
        </p:spPr>
        <p:txBody>
          <a:bodyPr>
            <a:normAutofit/>
          </a:bodyPr>
          <a:lstStyle/>
          <a:p>
            <a:r>
              <a:rPr lang="en-US" sz="4800" b="1" dirty="0">
                <a:solidFill>
                  <a:schemeClr val="bg1"/>
                </a:solidFill>
              </a:rPr>
              <a:t>Application &amp; Tools of data analysis :-</a:t>
            </a:r>
          </a:p>
        </p:txBody>
      </p:sp>
      <p:sp>
        <p:nvSpPr>
          <p:cNvPr id="15" name="Subtitle 14">
            <a:extLst>
              <a:ext uri="{FF2B5EF4-FFF2-40B4-BE49-F238E27FC236}">
                <a16:creationId xmlns:a16="http://schemas.microsoft.com/office/drawing/2014/main" id="{F68CCCB7-4EDD-4D22-ACFC-3FF10EB166DC}"/>
              </a:ext>
            </a:extLst>
          </p:cNvPr>
          <p:cNvSpPr>
            <a:spLocks noGrp="1"/>
          </p:cNvSpPr>
          <p:nvPr>
            <p:ph sz="half" idx="1"/>
          </p:nvPr>
        </p:nvSpPr>
        <p:spPr>
          <a:xfrm>
            <a:off x="155323" y="2766483"/>
            <a:ext cx="4937655" cy="3615267"/>
          </a:xfrm>
        </p:spPr>
        <p:txBody>
          <a:bodyPr>
            <a:normAutofit/>
          </a:bodyPr>
          <a:lstStyle/>
          <a:p>
            <a:r>
              <a:rPr lang="en-US" sz="2600" b="1" dirty="0">
                <a:solidFill>
                  <a:schemeClr val="bg1"/>
                </a:solidFill>
              </a:rPr>
              <a:t>APPLICATION OF DATA ANALYSIS</a:t>
            </a:r>
          </a:p>
          <a:p>
            <a:pPr marL="342900" indent="-342900">
              <a:buFont typeface="Arial" panose="020B0604020202020204" pitchFamily="34" charset="0"/>
              <a:buChar char="•"/>
            </a:pPr>
            <a:r>
              <a:rPr lang="en-US" sz="1800" dirty="0">
                <a:solidFill>
                  <a:srgbClr val="002060"/>
                </a:solidFill>
              </a:rPr>
              <a:t>Smaller health care </a:t>
            </a:r>
          </a:p>
          <a:p>
            <a:pPr marL="342900" indent="-342900">
              <a:buFont typeface="Arial" panose="020B0604020202020204" pitchFamily="34" charset="0"/>
              <a:buChar char="•"/>
            </a:pPr>
            <a:r>
              <a:rPr lang="en-US" sz="1800" dirty="0">
                <a:solidFill>
                  <a:srgbClr val="002060"/>
                </a:solidFill>
              </a:rPr>
              <a:t>Telecon</a:t>
            </a:r>
          </a:p>
          <a:p>
            <a:pPr marL="342900" indent="-342900">
              <a:buFont typeface="Arial" panose="020B0604020202020204" pitchFamily="34" charset="0"/>
              <a:buChar char="•"/>
            </a:pPr>
            <a:r>
              <a:rPr lang="en-US" sz="1800" dirty="0">
                <a:solidFill>
                  <a:srgbClr val="002060"/>
                </a:solidFill>
              </a:rPr>
              <a:t>Trading analysis</a:t>
            </a:r>
          </a:p>
          <a:p>
            <a:pPr marL="342900" indent="-342900">
              <a:buFont typeface="Arial" panose="020B0604020202020204" pitchFamily="34" charset="0"/>
              <a:buChar char="•"/>
            </a:pPr>
            <a:r>
              <a:rPr lang="en-US" sz="1800" dirty="0">
                <a:solidFill>
                  <a:srgbClr val="002060"/>
                </a:solidFill>
              </a:rPr>
              <a:t>Manufacturing</a:t>
            </a:r>
          </a:p>
          <a:p>
            <a:pPr marL="342900" indent="-342900">
              <a:buFont typeface="Arial" panose="020B0604020202020204" pitchFamily="34" charset="0"/>
              <a:buChar char="•"/>
            </a:pPr>
            <a:r>
              <a:rPr lang="en-US" sz="1800" dirty="0">
                <a:solidFill>
                  <a:srgbClr val="002060"/>
                </a:solidFill>
              </a:rPr>
              <a:t>Traffic control</a:t>
            </a:r>
          </a:p>
          <a:p>
            <a:pPr marL="342900" indent="-342900">
              <a:buFont typeface="Arial" panose="020B0604020202020204" pitchFamily="34" charset="0"/>
              <a:buChar char="•"/>
            </a:pPr>
            <a:r>
              <a:rPr lang="en-US" sz="1800" dirty="0">
                <a:solidFill>
                  <a:srgbClr val="002060"/>
                </a:solidFill>
              </a:rPr>
              <a:t>Search quality</a:t>
            </a:r>
          </a:p>
        </p:txBody>
      </p:sp>
      <p:sp>
        <p:nvSpPr>
          <p:cNvPr id="24" name="Content Placeholder 23">
            <a:extLst>
              <a:ext uri="{FF2B5EF4-FFF2-40B4-BE49-F238E27FC236}">
                <a16:creationId xmlns:a16="http://schemas.microsoft.com/office/drawing/2014/main" id="{3C9AA92C-89FB-4574-8D3C-0D66C56BBD18}"/>
              </a:ext>
            </a:extLst>
          </p:cNvPr>
          <p:cNvSpPr>
            <a:spLocks noGrp="1"/>
          </p:cNvSpPr>
          <p:nvPr>
            <p:ph sz="half" idx="2"/>
          </p:nvPr>
        </p:nvSpPr>
        <p:spPr>
          <a:xfrm>
            <a:off x="7102198" y="2111040"/>
            <a:ext cx="4934479" cy="4796590"/>
          </a:xfrm>
        </p:spPr>
        <p:txBody>
          <a:bodyPr/>
          <a:lstStyle/>
          <a:p>
            <a:r>
              <a:rPr lang="en-US" sz="2500" b="1" dirty="0">
                <a:solidFill>
                  <a:schemeClr val="bg1"/>
                </a:solidFill>
              </a:rPr>
              <a:t>TOOLS OF DATA ANALYSIS</a:t>
            </a:r>
          </a:p>
          <a:p>
            <a:pPr>
              <a:buFont typeface="Arial" panose="020B0604020202020204" pitchFamily="34" charset="0"/>
              <a:buChar char="•"/>
            </a:pPr>
            <a:r>
              <a:rPr lang="en-US" dirty="0">
                <a:solidFill>
                  <a:srgbClr val="002060"/>
                </a:solidFill>
              </a:rPr>
              <a:t>HADOOP</a:t>
            </a:r>
          </a:p>
          <a:p>
            <a:pPr>
              <a:buFont typeface="Arial" panose="020B0604020202020204" pitchFamily="34" charset="0"/>
              <a:buChar char="•"/>
            </a:pPr>
            <a:r>
              <a:rPr lang="en-US" dirty="0">
                <a:solidFill>
                  <a:srgbClr val="002060"/>
                </a:solidFill>
              </a:rPr>
              <a:t>TALEND</a:t>
            </a:r>
          </a:p>
          <a:p>
            <a:pPr>
              <a:buFont typeface="Arial" panose="020B0604020202020204" pitchFamily="34" charset="0"/>
              <a:buChar char="•"/>
            </a:pPr>
            <a:r>
              <a:rPr lang="en-US" dirty="0">
                <a:solidFill>
                  <a:srgbClr val="002060"/>
                </a:solidFill>
              </a:rPr>
              <a:t>KAFKA</a:t>
            </a:r>
          </a:p>
          <a:p>
            <a:pPr>
              <a:buFont typeface="Arial" panose="020B0604020202020204" pitchFamily="34" charset="0"/>
              <a:buChar char="•"/>
            </a:pPr>
            <a:r>
              <a:rPr lang="en-US" dirty="0">
                <a:solidFill>
                  <a:srgbClr val="002060"/>
                </a:solidFill>
              </a:rPr>
              <a:t>STORM</a:t>
            </a:r>
          </a:p>
          <a:p>
            <a:pPr>
              <a:buFont typeface="Arial" panose="020B0604020202020204" pitchFamily="34" charset="0"/>
              <a:buChar char="•"/>
            </a:pPr>
            <a:r>
              <a:rPr lang="en-US" dirty="0">
                <a:solidFill>
                  <a:srgbClr val="002060"/>
                </a:solidFill>
              </a:rPr>
              <a:t>SPARK</a:t>
            </a:r>
          </a:p>
          <a:p>
            <a:pPr>
              <a:buFont typeface="Arial" panose="020B0604020202020204" pitchFamily="34" charset="0"/>
              <a:buChar char="•"/>
            </a:pPr>
            <a:endParaRPr lang="en-US" dirty="0"/>
          </a:p>
        </p:txBody>
      </p:sp>
      <p:pic>
        <p:nvPicPr>
          <p:cNvPr id="23" name="Picture 22">
            <a:extLst>
              <a:ext uri="{FF2B5EF4-FFF2-40B4-BE49-F238E27FC236}">
                <a16:creationId xmlns:a16="http://schemas.microsoft.com/office/drawing/2014/main" id="{4BE99FAA-4EC2-44FA-8483-23C758DD00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40990"/>
            <a:ext cx="5999601" cy="5999601"/>
          </a:xfrm>
          <a:prstGeom prst="rect">
            <a:avLst/>
          </a:prstGeom>
        </p:spPr>
      </p:pic>
      <p:pic>
        <p:nvPicPr>
          <p:cNvPr id="25" name="Picture 24">
            <a:extLst>
              <a:ext uri="{FF2B5EF4-FFF2-40B4-BE49-F238E27FC236}">
                <a16:creationId xmlns:a16="http://schemas.microsoft.com/office/drawing/2014/main" id="{567FDC71-9C28-4E6F-BAAB-E917F237EC37}"/>
              </a:ext>
            </a:extLst>
          </p:cNvPr>
          <p:cNvPicPr>
            <a:picLocks noChangeAspect="1"/>
          </p:cNvPicPr>
          <p:nvPr/>
        </p:nvPicPr>
        <p:blipFill>
          <a:blip r:embed="rId3"/>
          <a:stretch>
            <a:fillRect/>
          </a:stretch>
        </p:blipFill>
        <p:spPr>
          <a:xfrm>
            <a:off x="6192401" y="1640990"/>
            <a:ext cx="5999601" cy="5999601"/>
          </a:xfrm>
          <a:prstGeom prst="rect">
            <a:avLst/>
          </a:prstGeom>
        </p:spPr>
      </p:pic>
    </p:spTree>
    <p:extLst>
      <p:ext uri="{BB962C8B-B14F-4D97-AF65-F5344CB8AC3E}">
        <p14:creationId xmlns:p14="http://schemas.microsoft.com/office/powerpoint/2010/main" val="203930989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B4A6A0-2D6B-4EB2-AFE4-A49814A6F65F}"/>
              </a:ext>
            </a:extLst>
          </p:cNvPr>
          <p:cNvSpPr>
            <a:spLocks noGrp="1"/>
          </p:cNvSpPr>
          <p:nvPr>
            <p:ph type="title"/>
          </p:nvPr>
        </p:nvSpPr>
        <p:spPr>
          <a:xfrm>
            <a:off x="397964" y="1757238"/>
            <a:ext cx="6273179" cy="3537446"/>
          </a:xfrm>
        </p:spPr>
        <p:txBody>
          <a:bodyPr/>
          <a:lstStyle/>
          <a:p>
            <a:r>
              <a:rPr lang="en-US" dirty="0"/>
              <a:t> </a:t>
            </a:r>
          </a:p>
        </p:txBody>
      </p:sp>
      <p:sp>
        <p:nvSpPr>
          <p:cNvPr id="6" name="Content Placeholder 5">
            <a:extLst>
              <a:ext uri="{FF2B5EF4-FFF2-40B4-BE49-F238E27FC236}">
                <a16:creationId xmlns:a16="http://schemas.microsoft.com/office/drawing/2014/main" id="{F4EE3474-3C66-4FEA-BAD8-39D31F33455B}"/>
              </a:ext>
            </a:extLst>
          </p:cNvPr>
          <p:cNvSpPr>
            <a:spLocks noGrp="1"/>
          </p:cNvSpPr>
          <p:nvPr>
            <p:ph idx="1"/>
          </p:nvPr>
        </p:nvSpPr>
        <p:spPr>
          <a:xfrm>
            <a:off x="-15503" y="208723"/>
            <a:ext cx="5652978" cy="888558"/>
          </a:xfrm>
        </p:spPr>
        <p:txBody>
          <a:bodyPr>
            <a:normAutofit/>
          </a:bodyPr>
          <a:lstStyle/>
          <a:p>
            <a:r>
              <a:rPr lang="en-US" sz="4400" b="1" dirty="0">
                <a:solidFill>
                  <a:schemeClr val="bg1"/>
                </a:solidFill>
              </a:rPr>
              <a:t>FUTURE SCOPE </a:t>
            </a:r>
            <a:r>
              <a:rPr lang="en-US" sz="4400" dirty="0">
                <a:solidFill>
                  <a:schemeClr val="bg1"/>
                </a:solidFill>
              </a:rPr>
              <a:t>:-</a:t>
            </a:r>
          </a:p>
        </p:txBody>
      </p:sp>
      <p:sp>
        <p:nvSpPr>
          <p:cNvPr id="8" name="TextBox 7">
            <a:extLst>
              <a:ext uri="{FF2B5EF4-FFF2-40B4-BE49-F238E27FC236}">
                <a16:creationId xmlns:a16="http://schemas.microsoft.com/office/drawing/2014/main" id="{C89379D5-523E-4E58-B24E-4C38EB6714C8}"/>
              </a:ext>
            </a:extLst>
          </p:cNvPr>
          <p:cNvSpPr txBox="1"/>
          <p:nvPr/>
        </p:nvSpPr>
        <p:spPr>
          <a:xfrm>
            <a:off x="56058" y="1439186"/>
            <a:ext cx="8018421" cy="5324535"/>
          </a:xfrm>
          <a:prstGeom prst="rect">
            <a:avLst/>
          </a:prstGeom>
          <a:noFill/>
        </p:spPr>
        <p:txBody>
          <a:bodyPr wrap="square">
            <a:spAutoFit/>
          </a:bodyPr>
          <a:lstStyle/>
          <a:p>
            <a:pPr>
              <a:buFont typeface="Arial" panose="020B0604020202020204" pitchFamily="34" charset="0"/>
              <a:buChar char="•"/>
            </a:pPr>
            <a:r>
              <a:rPr lang="en-US" sz="2000" dirty="0">
                <a:solidFill>
                  <a:srgbClr val="002060"/>
                </a:solidFill>
                <a:effectLst/>
              </a:rPr>
              <a:t>The streaming services market should continue to grow, albeit at a slower pace.</a:t>
            </a:r>
          </a:p>
          <a:p>
            <a:pPr>
              <a:buFont typeface="Arial" panose="020B0604020202020204" pitchFamily="34" charset="0"/>
              <a:buChar char="•"/>
            </a:pPr>
            <a:endParaRPr lang="en-US" sz="2000" dirty="0">
              <a:solidFill>
                <a:srgbClr val="002060"/>
              </a:solidFill>
              <a:effectLst/>
            </a:endParaRPr>
          </a:p>
          <a:p>
            <a:pPr>
              <a:buFont typeface="Arial" panose="020B0604020202020204" pitchFamily="34" charset="0"/>
              <a:buChar char="•"/>
            </a:pPr>
            <a:r>
              <a:rPr lang="en-US" sz="2000" dirty="0">
                <a:solidFill>
                  <a:srgbClr val="002060"/>
                </a:solidFill>
                <a:effectLst/>
              </a:rPr>
              <a:t>The streaming services sector should safely get through a recession.</a:t>
            </a:r>
          </a:p>
          <a:p>
            <a:pPr>
              <a:buFont typeface="Arial" panose="020B0604020202020204" pitchFamily="34" charset="0"/>
              <a:buChar char="•"/>
            </a:pPr>
            <a:endParaRPr lang="en-US" sz="2000" dirty="0">
              <a:solidFill>
                <a:srgbClr val="002060"/>
              </a:solidFill>
              <a:effectLst/>
            </a:endParaRPr>
          </a:p>
          <a:p>
            <a:pPr>
              <a:buFont typeface="Arial" panose="020B0604020202020204" pitchFamily="34" charset="0"/>
              <a:buChar char="•"/>
            </a:pPr>
            <a:r>
              <a:rPr lang="en-US" sz="2000" dirty="0">
                <a:solidFill>
                  <a:srgbClr val="002060"/>
                </a:solidFill>
                <a:effectLst/>
              </a:rPr>
              <a:t>New monetization opportunities are the main drivers of Netflix's stronger financial results.</a:t>
            </a:r>
          </a:p>
          <a:p>
            <a:pPr>
              <a:buFont typeface="Arial" panose="020B0604020202020204" pitchFamily="34" charset="0"/>
              <a:buChar char="•"/>
            </a:pPr>
            <a:endParaRPr lang="en-US" sz="2000" dirty="0">
              <a:solidFill>
                <a:srgbClr val="002060"/>
              </a:solidFill>
              <a:effectLst/>
            </a:endParaRPr>
          </a:p>
          <a:p>
            <a:pPr>
              <a:buFont typeface="Arial" panose="020B0604020202020204" pitchFamily="34" charset="0"/>
              <a:buChar char="•"/>
            </a:pPr>
            <a:r>
              <a:rPr lang="en-US" sz="2000" dirty="0">
                <a:solidFill>
                  <a:srgbClr val="002060"/>
                </a:solidFill>
                <a:effectLst/>
              </a:rPr>
              <a:t>We maintain BUY status for Netflix as the financial results of the company are likely to improve due to growth of the streaming services market and increasing monetization opportunities.</a:t>
            </a:r>
          </a:p>
          <a:p>
            <a:pPr>
              <a:buFont typeface="Arial" panose="020B0604020202020204" pitchFamily="34" charset="0"/>
              <a:buChar char="•"/>
            </a:pPr>
            <a:endParaRPr lang="en-US" sz="2000" dirty="0">
              <a:solidFill>
                <a:srgbClr val="002060"/>
              </a:solidFill>
              <a:effectLst/>
            </a:endParaRPr>
          </a:p>
          <a:p>
            <a:pPr>
              <a:buFont typeface="Arial" panose="020B0604020202020204" pitchFamily="34" charset="0"/>
              <a:buChar char="•"/>
            </a:pPr>
            <a:r>
              <a:rPr lang="en-US" sz="2000" dirty="0">
                <a:solidFill>
                  <a:srgbClr val="002060"/>
                </a:solidFill>
                <a:effectLst/>
              </a:rPr>
              <a:t>New strategic management initiatives shall make it easier for Netflix to overcome temporary difficulties.</a:t>
            </a:r>
          </a:p>
          <a:p>
            <a:br>
              <a:rPr lang="en-US" sz="2000" dirty="0">
                <a:effectLst/>
              </a:rPr>
            </a:br>
            <a:endParaRPr lang="en-US" sz="2000" dirty="0">
              <a:solidFill>
                <a:srgbClr val="002060"/>
              </a:solidFill>
            </a:endParaRPr>
          </a:p>
        </p:txBody>
      </p:sp>
      <p:pic>
        <p:nvPicPr>
          <p:cNvPr id="14" name="Picture 13">
            <a:extLst>
              <a:ext uri="{FF2B5EF4-FFF2-40B4-BE49-F238E27FC236}">
                <a16:creationId xmlns:a16="http://schemas.microsoft.com/office/drawing/2014/main" id="{5DA62919-DE12-40A0-8025-7550C0C925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2961" y="1510393"/>
            <a:ext cx="4028821" cy="4523013"/>
          </a:xfrm>
          <a:prstGeom prst="rect">
            <a:avLst/>
          </a:prstGeom>
          <a:ln>
            <a:noFill/>
          </a:ln>
          <a:effectLst>
            <a:softEdge rad="112500"/>
          </a:effectLst>
        </p:spPr>
      </p:pic>
      <p:pic>
        <p:nvPicPr>
          <p:cNvPr id="16" name="Picture 15">
            <a:extLst>
              <a:ext uri="{FF2B5EF4-FFF2-40B4-BE49-F238E27FC236}">
                <a16:creationId xmlns:a16="http://schemas.microsoft.com/office/drawing/2014/main" id="{24CEA20A-9010-461D-B043-E8655E0E8B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3524" y="1698171"/>
            <a:ext cx="1015826" cy="1015826"/>
          </a:xfrm>
          <a:prstGeom prst="rect">
            <a:avLst/>
          </a:prstGeom>
        </p:spPr>
      </p:pic>
    </p:spTree>
    <p:extLst>
      <p:ext uri="{BB962C8B-B14F-4D97-AF65-F5344CB8AC3E}">
        <p14:creationId xmlns:p14="http://schemas.microsoft.com/office/powerpoint/2010/main" val="96897808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D2396-8365-4481-BF74-197DDF9F18DD}"/>
              </a:ext>
            </a:extLst>
          </p:cNvPr>
          <p:cNvSpPr>
            <a:spLocks noGrp="1"/>
          </p:cNvSpPr>
          <p:nvPr>
            <p:ph type="title"/>
          </p:nvPr>
        </p:nvSpPr>
        <p:spPr>
          <a:xfrm>
            <a:off x="97970" y="587828"/>
            <a:ext cx="7405009" cy="5992586"/>
          </a:xfrm>
        </p:spPr>
        <p:txBody>
          <a:bodyPr>
            <a:normAutofit/>
          </a:bodyPr>
          <a:lstStyle/>
          <a:p>
            <a:r>
              <a:rPr lang="en-US" sz="2000" dirty="0">
                <a:solidFill>
                  <a:srgbClr val="002060"/>
                </a:solidFill>
              </a:rPr>
              <a:t>To conclude, we have constructed a relatively accurate data analysis to determine the genre of a given TV show and movie. Processing and narrowing down the features of the Netflix Dataset by identifying the top ten countries with top five genres the audience watch and feeding this data to figure out the trend over the years.</a:t>
            </a:r>
            <a:br>
              <a:rPr lang="en-US" sz="2000" dirty="0">
                <a:solidFill>
                  <a:srgbClr val="002060"/>
                </a:solidFill>
              </a:rPr>
            </a:br>
            <a:br>
              <a:rPr lang="en-US" sz="2000" dirty="0">
                <a:solidFill>
                  <a:srgbClr val="002060"/>
                </a:solidFill>
              </a:rPr>
            </a:br>
            <a:r>
              <a:rPr lang="en-US" sz="2000" dirty="0">
                <a:solidFill>
                  <a:srgbClr val="002060"/>
                </a:solidFill>
              </a:rPr>
              <a:t>we were able to identify which actors/actresses by which directors were popular in each country. Steps such as expanding the dataset and feature set and using logistic regression might have the potential to improve upon on results in the future. </a:t>
            </a:r>
          </a:p>
        </p:txBody>
      </p:sp>
      <p:sp>
        <p:nvSpPr>
          <p:cNvPr id="3" name="Content Placeholder 2">
            <a:extLst>
              <a:ext uri="{FF2B5EF4-FFF2-40B4-BE49-F238E27FC236}">
                <a16:creationId xmlns:a16="http://schemas.microsoft.com/office/drawing/2014/main" id="{D8815AD3-5F5A-4198-84BB-C5B18107A89B}"/>
              </a:ext>
            </a:extLst>
          </p:cNvPr>
          <p:cNvSpPr>
            <a:spLocks noGrp="1"/>
          </p:cNvSpPr>
          <p:nvPr>
            <p:ph idx="1"/>
          </p:nvPr>
        </p:nvSpPr>
        <p:spPr>
          <a:xfrm>
            <a:off x="0" y="0"/>
            <a:ext cx="4459288" cy="1404257"/>
          </a:xfrm>
        </p:spPr>
        <p:txBody>
          <a:bodyPr>
            <a:normAutofit/>
          </a:bodyPr>
          <a:lstStyle/>
          <a:p>
            <a:r>
              <a:rPr lang="en-US" sz="4000" b="1" dirty="0">
                <a:solidFill>
                  <a:schemeClr val="bg1"/>
                </a:solidFill>
              </a:rPr>
              <a:t>CONCLUSION:-</a:t>
            </a:r>
          </a:p>
        </p:txBody>
      </p:sp>
      <p:pic>
        <p:nvPicPr>
          <p:cNvPr id="5" name="Picture 4">
            <a:extLst>
              <a:ext uri="{FF2B5EF4-FFF2-40B4-BE49-F238E27FC236}">
                <a16:creationId xmlns:a16="http://schemas.microsoft.com/office/drawing/2014/main" id="{9B130FC3-9280-4F96-99E4-90DC173C5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8506" y="1563460"/>
            <a:ext cx="4415524" cy="4041321"/>
          </a:xfrm>
          <a:prstGeom prst="rect">
            <a:avLst/>
          </a:prstGeom>
          <a:ln>
            <a:noFill/>
          </a:ln>
          <a:effectLst>
            <a:softEdge rad="112500"/>
          </a:effectLst>
        </p:spPr>
      </p:pic>
    </p:spTree>
    <p:extLst>
      <p:ext uri="{BB962C8B-B14F-4D97-AF65-F5344CB8AC3E}">
        <p14:creationId xmlns:p14="http://schemas.microsoft.com/office/powerpoint/2010/main" val="235152700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3E079BFE-7CB9-45F9-9201-D99719C99C04}"/>
              </a:ext>
            </a:extLst>
          </p:cNvPr>
          <p:cNvSpPr>
            <a:spLocks noGrp="1"/>
          </p:cNvSpPr>
          <p:nvPr>
            <p:ph type="title"/>
          </p:nvPr>
        </p:nvSpPr>
        <p:spPr>
          <a:xfrm>
            <a:off x="2148114" y="769257"/>
            <a:ext cx="7692572" cy="5043713"/>
          </a:xfrm>
        </p:spPr>
        <p:txBody>
          <a:bodyPr>
            <a:noAutofit/>
          </a:bodyPr>
          <a:lstStyle/>
          <a:p>
            <a:r>
              <a:rPr lang="en-US" sz="7200" dirty="0">
                <a:solidFill>
                  <a:srgbClr val="00B0F0"/>
                </a:solidFill>
              </a:rPr>
              <a:t>           __</a:t>
            </a:r>
            <a:br>
              <a:rPr lang="en-US" sz="7200" dirty="0">
                <a:solidFill>
                  <a:srgbClr val="00B0F0"/>
                </a:solidFill>
              </a:rPr>
            </a:br>
            <a:br>
              <a:rPr lang="en-US" sz="7200" dirty="0"/>
            </a:br>
            <a:r>
              <a:rPr lang="en-US" sz="8800" dirty="0"/>
              <a:t> </a:t>
            </a:r>
            <a:r>
              <a:rPr lang="en-US" sz="8800" dirty="0">
                <a:solidFill>
                  <a:schemeClr val="accent5">
                    <a:lumMod val="75000"/>
                  </a:schemeClr>
                </a:solidFill>
                <a:latin typeface="Baskerville Old Face" panose="02020602080505020303" pitchFamily="18" charset="0"/>
              </a:rPr>
              <a:t>THANK YOU</a:t>
            </a:r>
          </a:p>
        </p:txBody>
      </p:sp>
    </p:spTree>
    <p:extLst>
      <p:ext uri="{BB962C8B-B14F-4D97-AF65-F5344CB8AC3E}">
        <p14:creationId xmlns:p14="http://schemas.microsoft.com/office/powerpoint/2010/main" val="167619806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heme/theme1.xml><?xml version="1.0" encoding="utf-8"?>
<a:theme xmlns:a="http://schemas.openxmlformats.org/drawingml/2006/main" name="Slice">
  <a:themeElements>
    <a:clrScheme name="Slice">
      <a:dk1>
        <a:sysClr val="windowText" lastClr="000000"/>
      </a:dk1>
      <a:lt1>
        <a:sysClr val="window" lastClr="FFFFFF"/>
      </a:lt1>
      <a:dk2>
        <a:srgbClr val="D06F1E"/>
      </a:dk2>
      <a:lt2>
        <a:srgbClr val="F0BE21"/>
      </a:lt2>
      <a:accent1>
        <a:srgbClr val="760603"/>
      </a:accent1>
      <a:accent2>
        <a:srgbClr val="9F761A"/>
      </a:accent2>
      <a:accent3>
        <a:srgbClr val="92A200"/>
      </a:accent3>
      <a:accent4>
        <a:srgbClr val="4AA157"/>
      </a:accent4>
      <a:accent5>
        <a:srgbClr val="46788D"/>
      </a:accent5>
      <a:accent6>
        <a:srgbClr val="A848A8"/>
      </a:accent6>
      <a:hlink>
        <a:srgbClr val="460402"/>
      </a:hlink>
      <a:folHlink>
        <a:srgbClr val="991111"/>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62000"/>
                <a:satMod val="200000"/>
                <a:lumMod val="124000"/>
              </a:schemeClr>
            </a:gs>
            <a:gs pos="100000">
              <a:schemeClr val="phClr">
                <a:shade val="96000"/>
                <a:hueMod val="88000"/>
                <a:satMod val="220000"/>
                <a:lumMod val="8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82EB108-EDE6-4B8E-957B-D4A69BF580EA}"/>
    </a:ext>
  </a:extLst>
</a:theme>
</file>

<file path=docProps/app.xml><?xml version="1.0" encoding="utf-8"?>
<Properties xmlns="http://schemas.openxmlformats.org/officeDocument/2006/extended-properties" xmlns:vt="http://schemas.openxmlformats.org/officeDocument/2006/docPropsVTypes">
  <Template>Slice</Template>
  <TotalTime>149</TotalTime>
  <Words>352</Words>
  <Application>Microsoft Office PowerPoint</Application>
  <PresentationFormat>Widescreen</PresentationFormat>
  <Paragraphs>32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Baskerville Old Face</vt:lpstr>
      <vt:lpstr>Century Gothic</vt:lpstr>
      <vt:lpstr>Wingdings 3</vt:lpstr>
      <vt:lpstr>Slice</vt:lpstr>
      <vt:lpstr>NETFLIX DATA ANALYSIS</vt:lpstr>
      <vt:lpstr>PowerPoint Presentation</vt:lpstr>
      <vt:lpstr>Application &amp; Tools of data analysis :-</vt:lpstr>
      <vt:lpstr> </vt:lpstr>
      <vt:lpstr>To conclude, we have constructed a relatively accurate data analysis to determine the genre of a given TV show and movie. Processing and narrowing down the features of the Netflix Dataset by identifying the top ten countries with top five genres the audience watch and feeding this data to figure out the trend over the years.  we were able to identify which actors/actresses by which directors were popular in each country. Steps such as expanding the dataset and feature set and using logistic regression might have the potential to improve upon on results in the future. </vt:lpstr>
      <vt:lpstr>           __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DATA ANALYSIS</dc:title>
  <dc:creator>pradeep madhukar</dc:creator>
  <cp:lastModifiedBy>pradeep madhukar</cp:lastModifiedBy>
  <cp:revision>6</cp:revision>
  <dcterms:created xsi:type="dcterms:W3CDTF">2023-03-18T01:04:14Z</dcterms:created>
  <dcterms:modified xsi:type="dcterms:W3CDTF">2023-03-19T02:11:05Z</dcterms:modified>
</cp:coreProperties>
</file>